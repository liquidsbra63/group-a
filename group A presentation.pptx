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sldIdLst>
    <p:sldId id="259" r:id="rId2"/>
    <p:sldId id="258" r:id="rId3"/>
    <p:sldId id="263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A147"/>
    <a:srgbClr val="B54C2D"/>
    <a:srgbClr val="B66952"/>
    <a:srgbClr val="B56D45"/>
    <a:srgbClr val="DF98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AA20905-3954-474B-A606-562BCA026DC1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C13AB6D-DEA2-4CBB-AC69-1EF1A6AD1512}">
      <dgm:prSet/>
      <dgm:spPr/>
      <dgm:t>
        <a:bodyPr/>
        <a:lstStyle/>
        <a:p>
          <a:pPr>
            <a:defRPr cap="all"/>
          </a:pPr>
          <a:r>
            <a:rPr lang="en-US" dirty="0"/>
            <a:t>Uganda: Africa’s leading robusta coffee producer</a:t>
          </a:r>
        </a:p>
      </dgm:t>
    </dgm:pt>
    <dgm:pt modelId="{2C752582-D9FF-4E04-A92F-827DB4BB5C48}" type="parTrans" cxnId="{4B888393-351D-4489-90C9-5A68061AB236}">
      <dgm:prSet/>
      <dgm:spPr/>
      <dgm:t>
        <a:bodyPr/>
        <a:lstStyle/>
        <a:p>
          <a:endParaRPr lang="en-US"/>
        </a:p>
      </dgm:t>
    </dgm:pt>
    <dgm:pt modelId="{9C64CC83-643C-4E12-8F97-BC19DC031190}" type="sibTrans" cxnId="{4B888393-351D-4489-90C9-5A68061AB236}">
      <dgm:prSet phldrT="01" phldr="0"/>
      <dgm:spPr/>
      <dgm:t>
        <a:bodyPr/>
        <a:lstStyle/>
        <a:p>
          <a:r>
            <a:rPr lang="en-US"/>
            <a:t>01</a:t>
          </a:r>
          <a:endParaRPr lang="en-US" dirty="0"/>
        </a:p>
      </dgm:t>
    </dgm:pt>
    <dgm:pt modelId="{53742231-981F-480A-940F-203EC2F7423F}">
      <dgm:prSet/>
      <dgm:spPr/>
      <dgm:t>
        <a:bodyPr/>
        <a:lstStyle/>
        <a:p>
          <a:pPr>
            <a:defRPr cap="all"/>
          </a:pPr>
          <a:r>
            <a:rPr lang="en-US" dirty="0"/>
            <a:t>Over 1.7 million house holds rely on coffee farming</a:t>
          </a:r>
        </a:p>
      </dgm:t>
    </dgm:pt>
    <dgm:pt modelId="{2FC75195-FBA1-43DE-85DD-40B4B3A2F1F3}" type="parTrans" cxnId="{F226B1C2-5D99-403A-8240-EAD6BD4D8534}">
      <dgm:prSet/>
      <dgm:spPr/>
      <dgm:t>
        <a:bodyPr/>
        <a:lstStyle/>
        <a:p>
          <a:endParaRPr lang="en-US"/>
        </a:p>
      </dgm:t>
    </dgm:pt>
    <dgm:pt modelId="{EF449C32-A7AE-4099-9E9B-9E2F736A89CE}" type="sibTrans" cxnId="{F226B1C2-5D99-403A-8240-EAD6BD4D8534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9EF41CC5-EF3B-4A6D-8229-3F1333EADFB3}">
      <dgm:prSet/>
      <dgm:spPr/>
      <dgm:t>
        <a:bodyPr/>
        <a:lstStyle/>
        <a:p>
          <a:pPr>
            <a:defRPr cap="all"/>
          </a:pPr>
          <a:r>
            <a:rPr lang="en-US" dirty="0"/>
            <a:t>Major foreign exchange earner and source of rural livelihoods.</a:t>
          </a:r>
        </a:p>
      </dgm:t>
    </dgm:pt>
    <dgm:pt modelId="{DAEF1C7D-B0C5-46FA-BED3-8A54E918D3E0}" type="parTrans" cxnId="{E476EEBC-7C9F-4E07-BD58-1044B9769B64}">
      <dgm:prSet/>
      <dgm:spPr/>
      <dgm:t>
        <a:bodyPr/>
        <a:lstStyle/>
        <a:p>
          <a:endParaRPr lang="en-US"/>
        </a:p>
      </dgm:t>
    </dgm:pt>
    <dgm:pt modelId="{98E6DD7C-B953-4119-9F64-9914E467ECBF}" type="sibTrans" cxnId="{E476EEBC-7C9F-4E07-BD58-1044B9769B64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579698BD-D232-4926-8D7B-29A69B90858B}" type="pres">
      <dgm:prSet presAssocID="{8AA20905-3954-474B-A606-562BCA026DC1}" presName="Name0" presStyleCnt="0">
        <dgm:presLayoutVars>
          <dgm:animLvl val="lvl"/>
          <dgm:resizeHandles val="exact"/>
        </dgm:presLayoutVars>
      </dgm:prSet>
      <dgm:spPr/>
    </dgm:pt>
    <dgm:pt modelId="{3DD5B223-886E-4FC7-BDA1-ECA869A474EC}" type="pres">
      <dgm:prSet presAssocID="{DC13AB6D-DEA2-4CBB-AC69-1EF1A6AD1512}" presName="compositeNode" presStyleCnt="0">
        <dgm:presLayoutVars>
          <dgm:bulletEnabled val="1"/>
        </dgm:presLayoutVars>
      </dgm:prSet>
      <dgm:spPr/>
    </dgm:pt>
    <dgm:pt modelId="{DA3A6BD4-857F-4C66-97FA-B1E1C180A950}" type="pres">
      <dgm:prSet presAssocID="{DC13AB6D-DEA2-4CBB-AC69-1EF1A6AD1512}" presName="bgRect" presStyleLbl="alignNode1" presStyleIdx="0" presStyleCnt="3"/>
      <dgm:spPr/>
    </dgm:pt>
    <dgm:pt modelId="{BBA91679-4684-4A04-8AEB-03038C78A75C}" type="pres">
      <dgm:prSet presAssocID="{9C64CC83-643C-4E12-8F97-BC19DC031190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5F398AEE-BC0F-4F30-99FA-92D67A176C2D}" type="pres">
      <dgm:prSet presAssocID="{DC13AB6D-DEA2-4CBB-AC69-1EF1A6AD1512}" presName="nodeRect" presStyleLbl="alignNode1" presStyleIdx="0" presStyleCnt="3">
        <dgm:presLayoutVars>
          <dgm:bulletEnabled val="1"/>
        </dgm:presLayoutVars>
      </dgm:prSet>
      <dgm:spPr/>
    </dgm:pt>
    <dgm:pt modelId="{3C27A223-AC17-40BD-B7C5-0447661C2934}" type="pres">
      <dgm:prSet presAssocID="{9C64CC83-643C-4E12-8F97-BC19DC031190}" presName="sibTrans" presStyleCnt="0"/>
      <dgm:spPr/>
    </dgm:pt>
    <dgm:pt modelId="{0864151C-845B-4A50-9755-7EE613694D81}" type="pres">
      <dgm:prSet presAssocID="{53742231-981F-480A-940F-203EC2F7423F}" presName="compositeNode" presStyleCnt="0">
        <dgm:presLayoutVars>
          <dgm:bulletEnabled val="1"/>
        </dgm:presLayoutVars>
      </dgm:prSet>
      <dgm:spPr/>
    </dgm:pt>
    <dgm:pt modelId="{00AE7F27-0E5D-4AFB-ACD6-B5A19E79EA42}" type="pres">
      <dgm:prSet presAssocID="{53742231-981F-480A-940F-203EC2F7423F}" presName="bgRect" presStyleLbl="alignNode1" presStyleIdx="1" presStyleCnt="3"/>
      <dgm:spPr/>
    </dgm:pt>
    <dgm:pt modelId="{975C752B-C37A-4BA6-A3AE-2202A141404A}" type="pres">
      <dgm:prSet presAssocID="{EF449C32-A7AE-4099-9E9B-9E2F736A89CE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C5BDCA19-B754-421E-A6CC-628F80FC74CB}" type="pres">
      <dgm:prSet presAssocID="{53742231-981F-480A-940F-203EC2F7423F}" presName="nodeRect" presStyleLbl="alignNode1" presStyleIdx="1" presStyleCnt="3">
        <dgm:presLayoutVars>
          <dgm:bulletEnabled val="1"/>
        </dgm:presLayoutVars>
      </dgm:prSet>
      <dgm:spPr/>
    </dgm:pt>
    <dgm:pt modelId="{3E36C1DA-E751-469B-91D5-B7ADF3790DAB}" type="pres">
      <dgm:prSet presAssocID="{EF449C32-A7AE-4099-9E9B-9E2F736A89CE}" presName="sibTrans" presStyleCnt="0"/>
      <dgm:spPr/>
    </dgm:pt>
    <dgm:pt modelId="{19974A3A-09A4-40DE-BB0F-D9AED1ACB06E}" type="pres">
      <dgm:prSet presAssocID="{9EF41CC5-EF3B-4A6D-8229-3F1333EADFB3}" presName="compositeNode" presStyleCnt="0">
        <dgm:presLayoutVars>
          <dgm:bulletEnabled val="1"/>
        </dgm:presLayoutVars>
      </dgm:prSet>
      <dgm:spPr/>
    </dgm:pt>
    <dgm:pt modelId="{CAD62F17-E99D-4FEF-B376-961CA4CB20EB}" type="pres">
      <dgm:prSet presAssocID="{9EF41CC5-EF3B-4A6D-8229-3F1333EADFB3}" presName="bgRect" presStyleLbl="alignNode1" presStyleIdx="2" presStyleCnt="3"/>
      <dgm:spPr/>
    </dgm:pt>
    <dgm:pt modelId="{E20811D6-E5D4-4C9E-AABF-9E0E1902CA2C}" type="pres">
      <dgm:prSet presAssocID="{98E6DD7C-B953-4119-9F64-9914E467ECBF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67D48337-9200-42EF-A956-8FC92E9B78D2}" type="pres">
      <dgm:prSet presAssocID="{9EF41CC5-EF3B-4A6D-8229-3F1333EADFB3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43B61840-F115-4174-96B9-DA0C0E83489E}" type="presOf" srcId="{9EF41CC5-EF3B-4A6D-8229-3F1333EADFB3}" destId="{CAD62F17-E99D-4FEF-B376-961CA4CB20EB}" srcOrd="0" destOrd="0" presId="urn:microsoft.com/office/officeart/2016/7/layout/LinearBlockProcessNumbered"/>
    <dgm:cxn modelId="{0439566F-A180-439C-8FAE-14E400EF2DCF}" type="presOf" srcId="{8AA20905-3954-474B-A606-562BCA026DC1}" destId="{579698BD-D232-4926-8D7B-29A69B90858B}" srcOrd="0" destOrd="0" presId="urn:microsoft.com/office/officeart/2016/7/layout/LinearBlockProcessNumbered"/>
    <dgm:cxn modelId="{29280853-1A86-48A7-BA30-A3847B3BBF6D}" type="presOf" srcId="{98E6DD7C-B953-4119-9F64-9914E467ECBF}" destId="{E20811D6-E5D4-4C9E-AABF-9E0E1902CA2C}" srcOrd="0" destOrd="0" presId="urn:microsoft.com/office/officeart/2016/7/layout/LinearBlockProcessNumbered"/>
    <dgm:cxn modelId="{F6B1598F-1951-460F-BB68-54B32A798437}" type="presOf" srcId="{DC13AB6D-DEA2-4CBB-AC69-1EF1A6AD1512}" destId="{5F398AEE-BC0F-4F30-99FA-92D67A176C2D}" srcOrd="1" destOrd="0" presId="urn:microsoft.com/office/officeart/2016/7/layout/LinearBlockProcessNumbered"/>
    <dgm:cxn modelId="{4B888393-351D-4489-90C9-5A68061AB236}" srcId="{8AA20905-3954-474B-A606-562BCA026DC1}" destId="{DC13AB6D-DEA2-4CBB-AC69-1EF1A6AD1512}" srcOrd="0" destOrd="0" parTransId="{2C752582-D9FF-4E04-A92F-827DB4BB5C48}" sibTransId="{9C64CC83-643C-4E12-8F97-BC19DC031190}"/>
    <dgm:cxn modelId="{BA068B95-2DA2-453B-8162-90B6AB26C20F}" type="presOf" srcId="{DC13AB6D-DEA2-4CBB-AC69-1EF1A6AD1512}" destId="{DA3A6BD4-857F-4C66-97FA-B1E1C180A950}" srcOrd="0" destOrd="0" presId="urn:microsoft.com/office/officeart/2016/7/layout/LinearBlockProcessNumbered"/>
    <dgm:cxn modelId="{07D44DA2-D4CF-4582-A029-20843D5E0F23}" type="presOf" srcId="{53742231-981F-480A-940F-203EC2F7423F}" destId="{C5BDCA19-B754-421E-A6CC-628F80FC74CB}" srcOrd="1" destOrd="0" presId="urn:microsoft.com/office/officeart/2016/7/layout/LinearBlockProcessNumbered"/>
    <dgm:cxn modelId="{E476EEBC-7C9F-4E07-BD58-1044B9769B64}" srcId="{8AA20905-3954-474B-A606-562BCA026DC1}" destId="{9EF41CC5-EF3B-4A6D-8229-3F1333EADFB3}" srcOrd="2" destOrd="0" parTransId="{DAEF1C7D-B0C5-46FA-BED3-8A54E918D3E0}" sibTransId="{98E6DD7C-B953-4119-9F64-9914E467ECBF}"/>
    <dgm:cxn modelId="{FDD130C2-CD74-4EFB-A226-A939177EE674}" type="presOf" srcId="{53742231-981F-480A-940F-203EC2F7423F}" destId="{00AE7F27-0E5D-4AFB-ACD6-B5A19E79EA42}" srcOrd="0" destOrd="0" presId="urn:microsoft.com/office/officeart/2016/7/layout/LinearBlockProcessNumbered"/>
    <dgm:cxn modelId="{F226B1C2-5D99-403A-8240-EAD6BD4D8534}" srcId="{8AA20905-3954-474B-A606-562BCA026DC1}" destId="{53742231-981F-480A-940F-203EC2F7423F}" srcOrd="1" destOrd="0" parTransId="{2FC75195-FBA1-43DE-85DD-40B4B3A2F1F3}" sibTransId="{EF449C32-A7AE-4099-9E9B-9E2F736A89CE}"/>
    <dgm:cxn modelId="{714928C7-F07E-48C4-BE9E-4842896AB09C}" type="presOf" srcId="{9C64CC83-643C-4E12-8F97-BC19DC031190}" destId="{BBA91679-4684-4A04-8AEB-03038C78A75C}" srcOrd="0" destOrd="0" presId="urn:microsoft.com/office/officeart/2016/7/layout/LinearBlockProcessNumbered"/>
    <dgm:cxn modelId="{7D7B6CF4-1A1D-4E61-B5FE-C95185EF2648}" type="presOf" srcId="{9EF41CC5-EF3B-4A6D-8229-3F1333EADFB3}" destId="{67D48337-9200-42EF-A956-8FC92E9B78D2}" srcOrd="1" destOrd="0" presId="urn:microsoft.com/office/officeart/2016/7/layout/LinearBlockProcessNumbered"/>
    <dgm:cxn modelId="{B9FDDAF6-ABE3-43D5-A54F-4A0002D3FD47}" type="presOf" srcId="{EF449C32-A7AE-4099-9E9B-9E2F736A89CE}" destId="{975C752B-C37A-4BA6-A3AE-2202A141404A}" srcOrd="0" destOrd="0" presId="urn:microsoft.com/office/officeart/2016/7/layout/LinearBlockProcessNumbered"/>
    <dgm:cxn modelId="{6A5BED3A-71F8-4A71-9E51-1F50D58497B5}" type="presParOf" srcId="{579698BD-D232-4926-8D7B-29A69B90858B}" destId="{3DD5B223-886E-4FC7-BDA1-ECA869A474EC}" srcOrd="0" destOrd="0" presId="urn:microsoft.com/office/officeart/2016/7/layout/LinearBlockProcessNumbered"/>
    <dgm:cxn modelId="{50ED9B3F-B939-4662-8866-7D833C2E0794}" type="presParOf" srcId="{3DD5B223-886E-4FC7-BDA1-ECA869A474EC}" destId="{DA3A6BD4-857F-4C66-97FA-B1E1C180A950}" srcOrd="0" destOrd="0" presId="urn:microsoft.com/office/officeart/2016/7/layout/LinearBlockProcessNumbered"/>
    <dgm:cxn modelId="{0D013F25-1B82-4F7B-AEF4-E93C2E95B0C3}" type="presParOf" srcId="{3DD5B223-886E-4FC7-BDA1-ECA869A474EC}" destId="{BBA91679-4684-4A04-8AEB-03038C78A75C}" srcOrd="1" destOrd="0" presId="urn:microsoft.com/office/officeart/2016/7/layout/LinearBlockProcessNumbered"/>
    <dgm:cxn modelId="{1E713196-E09A-42B0-BC2D-5294D0D9C36F}" type="presParOf" srcId="{3DD5B223-886E-4FC7-BDA1-ECA869A474EC}" destId="{5F398AEE-BC0F-4F30-99FA-92D67A176C2D}" srcOrd="2" destOrd="0" presId="urn:microsoft.com/office/officeart/2016/7/layout/LinearBlockProcessNumbered"/>
    <dgm:cxn modelId="{F8935481-B234-48A2-8E9B-6F423817537E}" type="presParOf" srcId="{579698BD-D232-4926-8D7B-29A69B90858B}" destId="{3C27A223-AC17-40BD-B7C5-0447661C2934}" srcOrd="1" destOrd="0" presId="urn:microsoft.com/office/officeart/2016/7/layout/LinearBlockProcessNumbered"/>
    <dgm:cxn modelId="{2A71550B-14EE-4B95-A40C-E132F64E84DB}" type="presParOf" srcId="{579698BD-D232-4926-8D7B-29A69B90858B}" destId="{0864151C-845B-4A50-9755-7EE613694D81}" srcOrd="2" destOrd="0" presId="urn:microsoft.com/office/officeart/2016/7/layout/LinearBlockProcessNumbered"/>
    <dgm:cxn modelId="{819F34FD-11F2-459D-B90D-FA1539737ADA}" type="presParOf" srcId="{0864151C-845B-4A50-9755-7EE613694D81}" destId="{00AE7F27-0E5D-4AFB-ACD6-B5A19E79EA42}" srcOrd="0" destOrd="0" presId="urn:microsoft.com/office/officeart/2016/7/layout/LinearBlockProcessNumbered"/>
    <dgm:cxn modelId="{FAA4A22E-63A9-40D7-AF37-15573F3C350A}" type="presParOf" srcId="{0864151C-845B-4A50-9755-7EE613694D81}" destId="{975C752B-C37A-4BA6-A3AE-2202A141404A}" srcOrd="1" destOrd="0" presId="urn:microsoft.com/office/officeart/2016/7/layout/LinearBlockProcessNumbered"/>
    <dgm:cxn modelId="{ABA4B620-C848-4944-B91E-2E492EED893C}" type="presParOf" srcId="{0864151C-845B-4A50-9755-7EE613694D81}" destId="{C5BDCA19-B754-421E-A6CC-628F80FC74CB}" srcOrd="2" destOrd="0" presId="urn:microsoft.com/office/officeart/2016/7/layout/LinearBlockProcessNumbered"/>
    <dgm:cxn modelId="{981D06A1-F8EB-4C14-9C2A-EA505D9C81FA}" type="presParOf" srcId="{579698BD-D232-4926-8D7B-29A69B90858B}" destId="{3E36C1DA-E751-469B-91D5-B7ADF3790DAB}" srcOrd="3" destOrd="0" presId="urn:microsoft.com/office/officeart/2016/7/layout/LinearBlockProcessNumbered"/>
    <dgm:cxn modelId="{D7BB022A-2504-497B-9672-D97F4CB95B15}" type="presParOf" srcId="{579698BD-D232-4926-8D7B-29A69B90858B}" destId="{19974A3A-09A4-40DE-BB0F-D9AED1ACB06E}" srcOrd="4" destOrd="0" presId="urn:microsoft.com/office/officeart/2016/7/layout/LinearBlockProcessNumbered"/>
    <dgm:cxn modelId="{A085F843-0169-43CB-B042-74EAB6E1674B}" type="presParOf" srcId="{19974A3A-09A4-40DE-BB0F-D9AED1ACB06E}" destId="{CAD62F17-E99D-4FEF-B376-961CA4CB20EB}" srcOrd="0" destOrd="0" presId="urn:microsoft.com/office/officeart/2016/7/layout/LinearBlockProcessNumbered"/>
    <dgm:cxn modelId="{A179DBCD-25F3-44B6-BAA7-26EBC7B29448}" type="presParOf" srcId="{19974A3A-09A4-40DE-BB0F-D9AED1ACB06E}" destId="{E20811D6-E5D4-4C9E-AABF-9E0E1902CA2C}" srcOrd="1" destOrd="0" presId="urn:microsoft.com/office/officeart/2016/7/layout/LinearBlockProcessNumbered"/>
    <dgm:cxn modelId="{7429BDE6-E17F-4E08-960D-D62B256C81F6}" type="presParOf" srcId="{19974A3A-09A4-40DE-BB0F-D9AED1ACB06E}" destId="{67D48337-9200-42EF-A956-8FC92E9B78D2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3A6BD4-857F-4C66-97FA-B1E1C180A950}">
      <dsp:nvSpPr>
        <dsp:cNvPr id="0" name=""/>
        <dsp:cNvSpPr/>
      </dsp:nvSpPr>
      <dsp:spPr>
        <a:xfrm>
          <a:off x="808" y="0"/>
          <a:ext cx="3275967" cy="371475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0" rIns="323593" bIns="33020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 dirty="0"/>
            <a:t>Uganda: Africa’s leading robusta coffee producer</a:t>
          </a:r>
        </a:p>
      </dsp:txBody>
      <dsp:txXfrm>
        <a:off x="808" y="1485900"/>
        <a:ext cx="3275967" cy="2228850"/>
      </dsp:txXfrm>
    </dsp:sp>
    <dsp:sp modelId="{BBA91679-4684-4A04-8AEB-03038C78A75C}">
      <dsp:nvSpPr>
        <dsp:cNvPr id="0" name=""/>
        <dsp:cNvSpPr/>
      </dsp:nvSpPr>
      <dsp:spPr>
        <a:xfrm>
          <a:off x="808" y="0"/>
          <a:ext cx="3275967" cy="1485900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165100" rIns="323593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  <a:endParaRPr lang="en-US" sz="6600" kern="1200" dirty="0"/>
        </a:p>
      </dsp:txBody>
      <dsp:txXfrm>
        <a:off x="808" y="0"/>
        <a:ext cx="3275967" cy="1485900"/>
      </dsp:txXfrm>
    </dsp:sp>
    <dsp:sp modelId="{00AE7F27-0E5D-4AFB-ACD6-B5A19E79EA42}">
      <dsp:nvSpPr>
        <dsp:cNvPr id="0" name=""/>
        <dsp:cNvSpPr/>
      </dsp:nvSpPr>
      <dsp:spPr>
        <a:xfrm>
          <a:off x="3538853" y="0"/>
          <a:ext cx="3275967" cy="371475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0" rIns="323593" bIns="33020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 dirty="0"/>
            <a:t>Over 1.7 million house holds rely on coffee farming</a:t>
          </a:r>
        </a:p>
      </dsp:txBody>
      <dsp:txXfrm>
        <a:off x="3538853" y="1485900"/>
        <a:ext cx="3275967" cy="2228850"/>
      </dsp:txXfrm>
    </dsp:sp>
    <dsp:sp modelId="{975C752B-C37A-4BA6-A3AE-2202A141404A}">
      <dsp:nvSpPr>
        <dsp:cNvPr id="0" name=""/>
        <dsp:cNvSpPr/>
      </dsp:nvSpPr>
      <dsp:spPr>
        <a:xfrm>
          <a:off x="3538853" y="0"/>
          <a:ext cx="3275967" cy="1485900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165100" rIns="323593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3538853" y="0"/>
        <a:ext cx="3275967" cy="1485900"/>
      </dsp:txXfrm>
    </dsp:sp>
    <dsp:sp modelId="{CAD62F17-E99D-4FEF-B376-961CA4CB20EB}">
      <dsp:nvSpPr>
        <dsp:cNvPr id="0" name=""/>
        <dsp:cNvSpPr/>
      </dsp:nvSpPr>
      <dsp:spPr>
        <a:xfrm>
          <a:off x="7076898" y="0"/>
          <a:ext cx="3275967" cy="371475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0" rIns="323593" bIns="33020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 dirty="0"/>
            <a:t>Major foreign exchange earner and source of rural livelihoods.</a:t>
          </a:r>
        </a:p>
      </dsp:txBody>
      <dsp:txXfrm>
        <a:off x="7076898" y="1485900"/>
        <a:ext cx="3275967" cy="2228850"/>
      </dsp:txXfrm>
    </dsp:sp>
    <dsp:sp modelId="{E20811D6-E5D4-4C9E-AABF-9E0E1902CA2C}">
      <dsp:nvSpPr>
        <dsp:cNvPr id="0" name=""/>
        <dsp:cNvSpPr/>
      </dsp:nvSpPr>
      <dsp:spPr>
        <a:xfrm>
          <a:off x="7076898" y="0"/>
          <a:ext cx="3275967" cy="1485900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593" tIns="165100" rIns="323593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</a:p>
      </dsp:txBody>
      <dsp:txXfrm>
        <a:off x="7076898" y="0"/>
        <a:ext cx="3275967" cy="14859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525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865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486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17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887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888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916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479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378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665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205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0594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836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406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3026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158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527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10/2/2025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8027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5" r:id="rId2"/>
    <p:sldLayoutId id="2147483716" r:id="rId3"/>
    <p:sldLayoutId id="2147483714" r:id="rId4"/>
    <p:sldLayoutId id="2147483710" r:id="rId5"/>
    <p:sldLayoutId id="2147483694" r:id="rId6"/>
    <p:sldLayoutId id="2147483695" r:id="rId7"/>
    <p:sldLayoutId id="2147483696" r:id="rId8"/>
    <p:sldLayoutId id="2147483697" r:id="rId9"/>
    <p:sldLayoutId id="2147483699" r:id="rId10"/>
    <p:sldLayoutId id="2147483693" r:id="rId11"/>
    <p:sldLayoutId id="2147483700" r:id="rId12"/>
    <p:sldLayoutId id="2147483701" r:id="rId13"/>
    <p:sldLayoutId id="2147483703" r:id="rId14"/>
    <p:sldLayoutId id="2147483704" r:id="rId15"/>
    <p:sldLayoutId id="2147483702" r:id="rId16"/>
    <p:sldLayoutId id="2147483698" r:id="rId17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cup, coffee, food, beverage&#10;&#10;Description automatically generated">
            <a:extLst>
              <a:ext uri="{FF2B5EF4-FFF2-40B4-BE49-F238E27FC236}">
                <a16:creationId xmlns:a16="http://schemas.microsoft.com/office/drawing/2014/main" id="{91BC5572-FC33-4C1C-8DEE-C2CF75A7564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1087120"/>
            <a:ext cx="9440034" cy="2648381"/>
          </a:xfrm>
        </p:spPr>
        <p:txBody>
          <a:bodyPr>
            <a:normAutofit/>
          </a:bodyPr>
          <a:lstStyle/>
          <a:p>
            <a:r>
              <a:rPr lang="en-US" sz="7200" dirty="0"/>
              <a:t>The Coffee Supply Chain in Uganda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3910649"/>
            <a:ext cx="9440034" cy="1397951"/>
          </a:xfrm>
        </p:spPr>
        <p:txBody>
          <a:bodyPr>
            <a:normAutofit/>
          </a:bodyPr>
          <a:lstStyle/>
          <a:p>
            <a:r>
              <a:rPr lang="en-US" sz="2800" dirty="0"/>
              <a:t>Challenges &amp;Blockchain Enabled-Solutions</a:t>
            </a:r>
          </a:p>
          <a:p>
            <a:r>
              <a:rPr lang="en-US" sz="2800" dirty="0"/>
              <a:t>GROUP A</a:t>
            </a:r>
          </a:p>
        </p:txBody>
      </p:sp>
    </p:spTree>
    <p:extLst>
      <p:ext uri="{BB962C8B-B14F-4D97-AF65-F5344CB8AC3E}">
        <p14:creationId xmlns:p14="http://schemas.microsoft.com/office/powerpoint/2010/main" val="633738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A748D-BEEC-43A4-BFF3-B31C0275A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</p:spPr>
        <p:txBody>
          <a:bodyPr>
            <a:normAutofit/>
          </a:bodyPr>
          <a:lstStyle/>
          <a:p>
            <a:r>
              <a:rPr lang="en-US" dirty="0"/>
              <a:t>The Importance of Coffee in Uganda</a:t>
            </a:r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AED04DAF-1E3F-4397-8834-E64118E9B2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40038571"/>
              </p:ext>
            </p:extLst>
          </p:nvPr>
        </p:nvGraphicFramePr>
        <p:xfrm>
          <a:off x="914400" y="2076450"/>
          <a:ext cx="10353675" cy="3714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89089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80020-EC1B-7B33-B4FF-3FCB4F0EF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196AD-3D50-7FEA-125A-2972F4CCE4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580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C8476-FCBF-05F0-FEB3-E00C277A6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Challenges in the Supply Chain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144F5-D7C1-2AC0-6C6D-B341D9E9D8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Lack of </a:t>
            </a:r>
            <a:r>
              <a:rPr lang="en-US" dirty="0" err="1"/>
              <a:t>tracebility</a:t>
            </a:r>
            <a:r>
              <a:rPr lang="en-US" dirty="0"/>
              <a:t> and transparency; farmers, exporters and buyers cannot fully track the coffee</a:t>
            </a:r>
          </a:p>
          <a:p>
            <a:r>
              <a:rPr lang="en-US" dirty="0"/>
              <a:t>Inefficient and unfair </a:t>
            </a:r>
            <a:r>
              <a:rPr lang="en-US" dirty="0" err="1"/>
              <a:t>payement</a:t>
            </a:r>
            <a:r>
              <a:rPr lang="en-US" dirty="0"/>
              <a:t> systems; delays and middlemen discourage farmers</a:t>
            </a:r>
          </a:p>
          <a:p>
            <a:r>
              <a:rPr lang="en-US" dirty="0"/>
              <a:t>Counterfeiting &amp; Poor quality control; fake or mixed coffee lowers trust and market value</a:t>
            </a:r>
          </a:p>
        </p:txBody>
      </p:sp>
    </p:spTree>
    <p:extLst>
      <p:ext uri="{BB962C8B-B14F-4D97-AF65-F5344CB8AC3E}">
        <p14:creationId xmlns:p14="http://schemas.microsoft.com/office/powerpoint/2010/main" val="3602639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76A9D-8997-ED6E-035B-651FFB468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blockchain is a fit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0D0209-73CE-77F8-4860-F240C24AE9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Shared, immutable ledger;  every handover is </a:t>
            </a:r>
            <a:r>
              <a:rPr lang="en-US" dirty="0" err="1"/>
              <a:t>permanately</a:t>
            </a:r>
            <a:r>
              <a:rPr lang="en-US" dirty="0"/>
              <a:t> recorded</a:t>
            </a:r>
          </a:p>
          <a:p>
            <a:r>
              <a:rPr lang="en-US" dirty="0"/>
              <a:t>Smart contracts;  Automate </a:t>
            </a:r>
            <a:r>
              <a:rPr lang="en-US" dirty="0" err="1"/>
              <a:t>payements</a:t>
            </a:r>
            <a:r>
              <a:rPr lang="en-US" dirty="0"/>
              <a:t> when the coffee is sold</a:t>
            </a:r>
          </a:p>
          <a:p>
            <a:r>
              <a:rPr lang="en-US" dirty="0"/>
              <a:t>Verification;  prove authenticity and quality of the batch</a:t>
            </a:r>
          </a:p>
          <a:p>
            <a:r>
              <a:rPr lang="en-US" dirty="0" err="1"/>
              <a:t>Transperency</a:t>
            </a:r>
            <a:r>
              <a:rPr lang="en-US" dirty="0"/>
              <a:t>;  </a:t>
            </a:r>
            <a:r>
              <a:rPr lang="en-US" dirty="0" err="1"/>
              <a:t>Exportors</a:t>
            </a:r>
            <a:r>
              <a:rPr lang="en-US" dirty="0"/>
              <a:t> and regulators can trace the origin of the coffee</a:t>
            </a:r>
          </a:p>
        </p:txBody>
      </p:sp>
    </p:spTree>
    <p:extLst>
      <p:ext uri="{BB962C8B-B14F-4D97-AF65-F5344CB8AC3E}">
        <p14:creationId xmlns:p14="http://schemas.microsoft.com/office/powerpoint/2010/main" val="135298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F3972-B1C5-F443-8307-AD1DF676F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2757B-1413-1203-0E04-9997A4BB4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Farmer delivers coffee to collection center; quantity &amp; quality recorded</a:t>
            </a:r>
          </a:p>
          <a:p>
            <a:r>
              <a:rPr lang="en-US" dirty="0"/>
              <a:t>Batch is recorded as a smart contract</a:t>
            </a:r>
          </a:p>
          <a:p>
            <a:r>
              <a:rPr lang="en-US" dirty="0"/>
              <a:t>Exporter buys the batch – </a:t>
            </a:r>
            <a:r>
              <a:rPr lang="en-US" dirty="0" err="1"/>
              <a:t>payement</a:t>
            </a:r>
            <a:r>
              <a:rPr lang="en-US" dirty="0"/>
              <a:t> is released to the smart contract.</a:t>
            </a:r>
          </a:p>
          <a:p>
            <a:r>
              <a:rPr lang="en-US" dirty="0"/>
              <a:t>Smart contract distributes </a:t>
            </a:r>
            <a:r>
              <a:rPr lang="en-US" dirty="0" err="1"/>
              <a:t>payements</a:t>
            </a:r>
            <a:r>
              <a:rPr lang="en-US" dirty="0"/>
              <a:t> fairly to the farmers</a:t>
            </a:r>
          </a:p>
          <a:p>
            <a:r>
              <a:rPr lang="en-US" dirty="0"/>
              <a:t>Coffee can be traced back to the original farmer – ensuring </a:t>
            </a:r>
            <a:r>
              <a:rPr lang="en-US" dirty="0" err="1"/>
              <a:t>trust,quality</a:t>
            </a:r>
            <a:r>
              <a:rPr lang="en-US" dirty="0"/>
              <a:t> and accountability.</a:t>
            </a:r>
          </a:p>
          <a:p>
            <a:endParaRPr lang="en-US" dirty="0"/>
          </a:p>
          <a:p>
            <a:pPr marL="36900" indent="0" algn="ctr">
              <a:buNone/>
            </a:pPr>
            <a:r>
              <a:rPr lang="en-US" i="1" dirty="0"/>
              <a:t>“blockchain can transform Uganda’s coffee industry into a transparent, fair, and globally competitive supply chain”</a:t>
            </a:r>
          </a:p>
        </p:txBody>
      </p:sp>
    </p:spTree>
    <p:extLst>
      <p:ext uri="{BB962C8B-B14F-4D97-AF65-F5344CB8AC3E}">
        <p14:creationId xmlns:p14="http://schemas.microsoft.com/office/powerpoint/2010/main" val="22124743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offee">
      <a:dk1>
        <a:sysClr val="windowText" lastClr="000000"/>
      </a:dk1>
      <a:lt1>
        <a:sysClr val="window" lastClr="FFFFFF"/>
      </a:lt1>
      <a:dk2>
        <a:srgbClr val="4E3B30"/>
      </a:dk2>
      <a:lt2>
        <a:srgbClr val="F4EEDC"/>
      </a:lt2>
      <a:accent1>
        <a:srgbClr val="CC830E"/>
      </a:accent1>
      <a:accent2>
        <a:srgbClr val="B54C2D"/>
      </a:accent2>
      <a:accent3>
        <a:srgbClr val="99570C"/>
      </a:accent3>
      <a:accent4>
        <a:srgbClr val="C17529"/>
      </a:accent4>
      <a:accent5>
        <a:srgbClr val="A19574"/>
      </a:accent5>
      <a:accent6>
        <a:srgbClr val="A49518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REE.pptx" id="{E781C72B-3D65-4B8D-9071-33B66AF0EF30}" vid="{3A5A58F2-9BE1-435C-B12D-88FD9BF701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{E31372DD-3063-462B-872C-E2C2EB2FBFED}TFe887d8cf-77a9-48cd-9a74-d8d08097a61c3993dec7_win32-329aa78f548b</Template>
  <TotalTime>167</TotalTime>
  <Words>219</Words>
  <Application>Microsoft Office PowerPoint</Application>
  <PresentationFormat>Widescreen</PresentationFormat>
  <Paragraphs>27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Goudy Old Style</vt:lpstr>
      <vt:lpstr>Wingdings 2</vt:lpstr>
      <vt:lpstr>SlateVTI</vt:lpstr>
      <vt:lpstr>The Coffee Supply Chain in Uganda</vt:lpstr>
      <vt:lpstr>The Importance of Coffee in Uganda</vt:lpstr>
      <vt:lpstr>PowerPoint Presentation</vt:lpstr>
      <vt:lpstr>Current Challenges in the Supply Chain</vt:lpstr>
      <vt:lpstr>Why blockchain is a fit solution</vt:lpstr>
      <vt:lpstr>Process Flow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Ibrahim Mutyaba</dc:creator>
  <cp:lastModifiedBy>Ibrahim Mutyaba</cp:lastModifiedBy>
  <cp:revision>2</cp:revision>
  <dcterms:created xsi:type="dcterms:W3CDTF">2025-09-30T06:31:44Z</dcterms:created>
  <dcterms:modified xsi:type="dcterms:W3CDTF">2025-10-02T11:30:20Z</dcterms:modified>
</cp:coreProperties>
</file>